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6" r:id="rId4"/>
    <p:sldId id="287" r:id="rId5"/>
    <p:sldId id="288" r:id="rId6"/>
    <p:sldId id="270" r:id="rId7"/>
    <p:sldId id="289" r:id="rId8"/>
    <p:sldId id="290" r:id="rId9"/>
    <p:sldId id="291" r:id="rId10"/>
    <p:sldId id="296" r:id="rId11"/>
    <p:sldId id="292" r:id="rId12"/>
    <p:sldId id="308" r:id="rId13"/>
    <p:sldId id="297" r:id="rId14"/>
    <p:sldId id="298" r:id="rId15"/>
    <p:sldId id="299" r:id="rId16"/>
    <p:sldId id="300" r:id="rId17"/>
    <p:sldId id="301" r:id="rId18"/>
    <p:sldId id="305" r:id="rId19"/>
    <p:sldId id="306" r:id="rId20"/>
    <p:sldId id="28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32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E221-FBF6-6F09-F565-614A13B8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C12EC7-BB29-F01A-D01A-DEEDD5F49F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ABB6B-EFDE-B5F1-5A7D-34DD7627578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F4F2F46-EA52-17C8-BEE5-5C245E662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E2BE267-2CD1-C436-1C6A-2859577B0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07D5A-FDCC-8D12-6325-AD0D1D4758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5074A-196B-A8FF-6B4E-E422149C0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44252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0ECA-9658-7EB5-58BE-08E0A6C2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3D32E-7F6F-AD81-552B-B860F3B5B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E0986-2929-15A7-6B89-6CF503310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93E7-BAA5-B6D1-A2B0-E1C0F1C27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25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BA6F-2A13-1D42-0A10-B7FDE657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8590BC-5028-1C00-BF02-21D79874D4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AE430-18CF-52AF-A4EE-AFFC2E13D8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1B5597B-055E-19CE-617E-491E96889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657D7CA-A324-A193-036F-86B9D1CD6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1D6DF-B972-FE85-C59E-08B8D6779D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FC141-F321-8E6B-61A0-B0EC611BF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01750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FCB34-DFEB-863B-39BE-70D67383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51D4EB-4A07-B331-2340-6A339508C0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27637-1F3C-3AA0-D293-9475F8AE0E4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29529E3-0047-161E-981C-673956A46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CFC9C9-2547-6ABF-C78E-54F78FCC0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41E42-397E-3AAC-D742-3CF99809A0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5195A-181E-FF83-2797-AB7BE4E79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36394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D0D9C-2875-6713-009E-FE96C4A7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AD4ECB-EDAC-5172-0E19-3EB6C5B7BC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99BCC-CCCE-7CE1-0323-C88E51B6ED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B4EF6A-88C4-8C79-DD1F-D57514D982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1F94836-DB9F-A421-9192-AD0D0CD65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1AFDE-F2F9-90D4-97EE-6844B599C4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25911-C5EE-EF38-5614-46EC3783F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974260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F620-0F8F-5380-EB98-137625DC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4203A-9B40-C15C-B825-1CCF73655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66B44-369E-72C8-9097-EFF0EF157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BD84F-B7CE-019B-8D3D-73BE8971F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24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DC55-F20F-B9BD-18F6-95C4CB2D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7C5D9-2DE0-F36D-1811-4B16BD346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58456-2168-3F24-9014-134E7D918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650E-B44C-6EC4-12D0-0F557A67C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25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2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Manipulation of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514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Volume-Preserving GANs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108960"/>
            <a:ext cx="3657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|  VNU UET — Institute for Artificial Intelligence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Nguyễn Đức Minh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Lường Minh Trí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288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Lê Hồng Anh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5196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Vũ Bảo Chinh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Trần Văn Dy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4288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Nguyễn Quang Huy</a:t>
            </a:r>
            <a:endParaRPr lang="en-US" sz="1200" dirty="0"/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9429E172-D126-A39E-009F-4D819A0F2718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E0BF560E-499A-334D-914D-E048ED214092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0D6412EB-F466-85D7-2098-9E4720AB7BEE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17" name="Freeform 5" descr="Viện Trí tuệ nhân tạo | Hanoi">
              <a:extLst>
                <a:ext uri="{FF2B5EF4-FFF2-40B4-BE49-F238E27FC236}">
                  <a16:creationId xmlns:a16="http://schemas.microsoft.com/office/drawing/2014/main" id="{ACC5223E-8A66-506A-89BA-1423E3EF3CED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5360" y="173736"/>
            <a:ext cx="364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023360" y="676656"/>
            <a:ext cx="10972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81A1A020-BC3C-4FA4-FDE9-6E8D5C306045}"/>
              </a:ext>
            </a:extLst>
          </p:cNvPr>
          <p:cNvSpPr txBox="1"/>
          <p:nvPr/>
        </p:nvSpPr>
        <p:spPr>
          <a:xfrm>
            <a:off x="477663" y="1474145"/>
            <a:ext cx="5049179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Introduction &amp; Overall Pipeline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  <a:r>
              <a:rPr lang="en-US" sz="2200" b="1" dirty="0">
                <a:solidFill>
                  <a:srgbClr val="F5F4ED"/>
                </a:solidFill>
                <a:latin typeface="Arial Bold"/>
                <a:ea typeface="Arial Bold"/>
                <a:cs typeface="Arial Bold"/>
                <a:sym typeface="Arial Bold"/>
              </a:rPr>
              <a:t>   </a:t>
            </a: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 &amp; Preprocessing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03 </a:t>
            </a:r>
            <a:r>
              <a:rPr lang="en-US" sz="2200" b="1" dirty="0">
                <a:solidFill>
                  <a:srgbClr val="F5F4ED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GAN Model Architecture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46BE194C-F9F7-FA33-BB9E-CB4315B7A0A6}"/>
              </a:ext>
            </a:extLst>
          </p:cNvPr>
          <p:cNvSpPr txBox="1"/>
          <p:nvPr/>
        </p:nvSpPr>
        <p:spPr>
          <a:xfrm>
            <a:off x="5421334" y="1476773"/>
            <a:ext cx="4055898" cy="3334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04   </a:t>
            </a: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 Evaluation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05   </a:t>
            </a: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Latent Space Analysis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06   </a:t>
            </a:r>
            <a:r>
              <a:rPr lang="en-US" sz="2200" b="1" dirty="0">
                <a:solidFill>
                  <a:srgbClr val="000000"/>
                </a:solidFill>
                <a:latin typeface="Arial Bold"/>
                <a:cs typeface="Arial Bold"/>
                <a:sym typeface="Arial Bold"/>
              </a:rPr>
              <a:t>Conclusion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" name="TextBox 22">
            <a:extLst>
              <a:ext uri="{FF2B5EF4-FFF2-40B4-BE49-F238E27FC236}">
                <a16:creationId xmlns:a16="http://schemas.microsoft.com/office/drawing/2014/main" id="{91311703-CA41-B18B-96C4-6C06A2D3BA54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5" name="Group 23">
            <a:extLst>
              <a:ext uri="{FF2B5EF4-FFF2-40B4-BE49-F238E27FC236}">
                <a16:creationId xmlns:a16="http://schemas.microsoft.com/office/drawing/2014/main" id="{45EB256F-7F63-8F9B-3D4D-93A517359BA0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58DFF458-7B35-B20D-81C5-CD9172DFD172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7" name="TextBox 25">
            <a:extLst>
              <a:ext uri="{FF2B5EF4-FFF2-40B4-BE49-F238E27FC236}">
                <a16:creationId xmlns:a16="http://schemas.microsoft.com/office/drawing/2014/main" id="{987E86B5-EF9E-54F3-AC02-E18FCCE4A9D0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80472953-8503-0DDE-085F-1B8038116FE2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737172" y="1137955"/>
            <a:ext cx="16230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10000" b="1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01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348804" y="2571750"/>
            <a:ext cx="2309100" cy="36000"/>
            <a:chOff x="0" y="0"/>
            <a:chExt cx="6157600" cy="9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57595" cy="96012"/>
            </a:xfrm>
            <a:custGeom>
              <a:avLst/>
              <a:gdLst/>
              <a:ahLst/>
              <a:cxnLst/>
              <a:rect l="l" t="t" r="r" b="b"/>
              <a:pathLst>
                <a:path w="6157595" h="96012">
                  <a:moveTo>
                    <a:pt x="0" y="0"/>
                  </a:moveTo>
                  <a:lnTo>
                    <a:pt x="6157595" y="0"/>
                  </a:lnTo>
                  <a:lnTo>
                    <a:pt x="6157595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95245" y="2676838"/>
            <a:ext cx="4353509" cy="131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Introduction &amp; Overall Pipeline</a:t>
            </a: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9783ED6C-7A3A-CDA9-318B-676520598973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6" name="Group 23">
            <a:extLst>
              <a:ext uri="{FF2B5EF4-FFF2-40B4-BE49-F238E27FC236}">
                <a16:creationId xmlns:a16="http://schemas.microsoft.com/office/drawing/2014/main" id="{9FCD6364-2D3F-1AA1-4550-0941272ADFE8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5BA9F14D-F33B-A5F0-0CD1-9C0FA5F1364B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18" name="TextBox 25">
            <a:extLst>
              <a:ext uri="{FF2B5EF4-FFF2-40B4-BE49-F238E27FC236}">
                <a16:creationId xmlns:a16="http://schemas.microsoft.com/office/drawing/2014/main" id="{369848C9-7E7B-A59F-701F-0802AB29EE8C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70FEECD4-0D9F-F9F4-4502-B879646F658B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3/20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4E0E4AAD-BE17-0661-6C77-8B1CC233C130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4F08C364-68EC-4DB3-9E87-5C75F1888553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24" name="Group 4">
            <a:extLst>
              <a:ext uri="{FF2B5EF4-FFF2-40B4-BE49-F238E27FC236}">
                <a16:creationId xmlns:a16="http://schemas.microsoft.com/office/drawing/2014/main" id="{BA9FD8B2-9CBA-D099-4C89-ADCFE9631BAC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25" name="Freeform 5" descr="Viện Trí tuệ nhân tạo | Hanoi">
              <a:extLst>
                <a:ext uri="{FF2B5EF4-FFF2-40B4-BE49-F238E27FC236}">
                  <a16:creationId xmlns:a16="http://schemas.microsoft.com/office/drawing/2014/main" id="{0ECA0591-581D-A885-2863-078E1EAB3601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92608" y="957263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- Brain aging causes </a:t>
            </a:r>
            <a:r>
              <a:rPr lang="en-US" sz="14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cortical thinning</a:t>
            </a: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and </a:t>
            </a:r>
            <a:r>
              <a:rPr lang="en-US" sz="14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ventricular enlargement, </a:t>
            </a: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this is biomarkers for Alzheimer's disease and Multiple Sclerosis.</a:t>
            </a:r>
            <a:endParaRPr lang="en-US" sz="1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2608" y="14447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- Acquiring longitudinal MRI (same subject, across decades) is </a:t>
            </a:r>
            <a:r>
              <a:rPr lang="en-US" sz="14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impractical and costly</a:t>
            </a: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.</a:t>
            </a:r>
            <a:endParaRPr lang="en-US" sz="1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08" y="194799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-&gt; Generative models offer a </a:t>
            </a:r>
            <a:r>
              <a:rPr lang="en-US" sz="14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data-efficient surrogate</a:t>
            </a: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: given one scan, synthesise the same brain at different ages.</a:t>
            </a:r>
            <a:endParaRPr lang="en-US" sz="1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" y="2523275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There art two key challenges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880360"/>
            <a:ext cx="50292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928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P1  —  High anatomical variance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3246120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Without volume normalisation, grey-matter volumes differ &gt;200 ml across scanners. GAN learns head size instead of ageing → blurry outputs.</a:t>
            </a:r>
            <a:endParaRPr lang="en-US" sz="12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00600" y="2880360"/>
            <a:ext cx="50292" cy="16916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56048" y="2880360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P2  —  Latent space interpretability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56048" y="3246120"/>
            <a:ext cx="37764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Even visually plausible outputs are a black box without knowing which latent dimensions encode ageing and which brain regions they control.</a:t>
            </a:r>
            <a:endParaRPr lang="en-US" sz="12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ED997FF0-67C2-227C-68B3-7D346855E832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32C236EE-84B8-CA0B-D996-71F3F994AF63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27">
            <a:extLst>
              <a:ext uri="{FF2B5EF4-FFF2-40B4-BE49-F238E27FC236}">
                <a16:creationId xmlns:a16="http://schemas.microsoft.com/office/drawing/2014/main" id="{D6FD0E7C-5A9E-202A-70ED-968E3AA1C415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Introduction</a:t>
            </a:r>
          </a:p>
        </p:txBody>
      </p:sp>
      <p:sp>
        <p:nvSpPr>
          <p:cNvPr id="27" name="TextBox 28">
            <a:extLst>
              <a:ext uri="{FF2B5EF4-FFF2-40B4-BE49-F238E27FC236}">
                <a16:creationId xmlns:a16="http://schemas.microsoft.com/office/drawing/2014/main" id="{12AEC7F8-CC57-296A-6F63-1671343B4853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1.1</a:t>
            </a: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9399B8AA-CC7D-3B84-3355-65061351CC26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C0423B01-B8ED-66C3-4812-BBB22D39D865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0" name="Group 23">
            <a:extLst>
              <a:ext uri="{FF2B5EF4-FFF2-40B4-BE49-F238E27FC236}">
                <a16:creationId xmlns:a16="http://schemas.microsoft.com/office/drawing/2014/main" id="{A8F1C088-5371-D354-ABBF-5E5EFAC8075D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1" name="Freeform 24">
              <a:extLst>
                <a:ext uri="{FF2B5EF4-FFF2-40B4-BE49-F238E27FC236}">
                  <a16:creationId xmlns:a16="http://schemas.microsoft.com/office/drawing/2014/main" id="{DEA189A9-E5D7-9E51-99E1-74659FEF16D7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42" name="TextBox 25">
            <a:extLst>
              <a:ext uri="{FF2B5EF4-FFF2-40B4-BE49-F238E27FC236}">
                <a16:creationId xmlns:a16="http://schemas.microsoft.com/office/drawing/2014/main" id="{DD350B3C-D292-E4DE-90DC-DC46E77D195A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824DB203-F07B-CFA4-1FF8-6DF3ADE8286F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450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Proposed Approach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606040" cy="329184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606040" cy="329184"/>
          </a:xfrm>
          <a:prstGeom prst="rect">
            <a:avLst/>
          </a:prstGeom>
          <a:solidFill>
            <a:srgbClr val="1A9641"/>
          </a:solidFill>
          <a:ln w="12700">
            <a:solidFill>
              <a:srgbClr val="1A9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46120" y="868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868680"/>
            <a:ext cx="2606040" cy="329184"/>
          </a:xfrm>
          <a:prstGeom prst="rect">
            <a:avLst/>
          </a:prstGeom>
          <a:solidFill>
            <a:srgbClr val="E08214"/>
          </a:solidFill>
          <a:ln w="12700">
            <a:solidFill>
              <a:srgbClr val="E08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80760" y="868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pic>
        <p:nvPicPr>
          <p:cNvPr id="11" name="Image 0" descr="/home/claude/report/figures/pipelin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8321040" cy="2834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 strip · 1mm resample · 12,497 scans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246120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PatchGAN + WGAN-GP · 2D &amp; 3D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080760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Correlation · Activation maps</a:t>
            </a:r>
            <a:endParaRPr lang="en-US" sz="1150" dirty="0"/>
          </a:p>
        </p:txBody>
      </p:sp>
      <p:grpSp>
        <p:nvGrpSpPr>
          <p:cNvPr id="18" name="Group 25">
            <a:extLst>
              <a:ext uri="{FF2B5EF4-FFF2-40B4-BE49-F238E27FC236}">
                <a16:creationId xmlns:a16="http://schemas.microsoft.com/office/drawing/2014/main" id="{440C5E2A-CF85-2481-5543-E9512C45A4AD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33B54471-E4A0-60BB-1CA6-C6109AA7B4DA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27">
            <a:extLst>
              <a:ext uri="{FF2B5EF4-FFF2-40B4-BE49-F238E27FC236}">
                <a16:creationId xmlns:a16="http://schemas.microsoft.com/office/drawing/2014/main" id="{23BB52FA-BEE9-7E43-0B65-7372BE48280F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Overall Pipeline</a:t>
            </a: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id="{0247FE18-C62C-E51A-20BD-B0166CC47F87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1.2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AAAF42F1-4871-861D-2412-E3FAEE166177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415A040E-F603-C896-A38F-E4BF3115B12A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298783D8-41FC-0AA0-CEFB-E4258D9DB0D6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FE416FD0-51FA-5FB5-A8CE-B11734183F15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16" name="TextBox 25">
            <a:extLst>
              <a:ext uri="{FF2B5EF4-FFF2-40B4-BE49-F238E27FC236}">
                <a16:creationId xmlns:a16="http://schemas.microsoft.com/office/drawing/2014/main" id="{9BF8D43E-AB67-97A9-86EC-7009813A3AA0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7" name="TextBox 26">
            <a:extLst>
              <a:ext uri="{FF2B5EF4-FFF2-40B4-BE49-F238E27FC236}">
                <a16:creationId xmlns:a16="http://schemas.microsoft.com/office/drawing/2014/main" id="{98DB6D2D-5834-6224-D40D-87DDF351A134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D333-4DFD-3915-7210-2E4CC9407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FF5F162-AFEA-E0F0-739F-EFAE8C76E252}"/>
              </a:ext>
            </a:extLst>
          </p:cNvPr>
          <p:cNvSpPr txBox="1"/>
          <p:nvPr/>
        </p:nvSpPr>
        <p:spPr>
          <a:xfrm>
            <a:off x="3737172" y="1137955"/>
            <a:ext cx="16230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10000" b="1" dirty="0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02 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083E471-E28A-827A-2F40-090538F4A69E}"/>
              </a:ext>
            </a:extLst>
          </p:cNvPr>
          <p:cNvGrpSpPr/>
          <p:nvPr/>
        </p:nvGrpSpPr>
        <p:grpSpPr>
          <a:xfrm>
            <a:off x="3348804" y="2571750"/>
            <a:ext cx="2309100" cy="36000"/>
            <a:chOff x="0" y="0"/>
            <a:chExt cx="6157600" cy="9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880551-70DA-744E-3437-D830C8E7607D}"/>
                </a:ext>
              </a:extLst>
            </p:cNvPr>
            <p:cNvSpPr/>
            <p:nvPr/>
          </p:nvSpPr>
          <p:spPr>
            <a:xfrm>
              <a:off x="0" y="0"/>
              <a:ext cx="6157595" cy="96012"/>
            </a:xfrm>
            <a:custGeom>
              <a:avLst/>
              <a:gdLst/>
              <a:ahLst/>
              <a:cxnLst/>
              <a:rect l="l" t="t" r="r" b="b"/>
              <a:pathLst>
                <a:path w="6157595" h="96012">
                  <a:moveTo>
                    <a:pt x="0" y="0"/>
                  </a:moveTo>
                  <a:lnTo>
                    <a:pt x="6157595" y="0"/>
                  </a:lnTo>
                  <a:lnTo>
                    <a:pt x="6157595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866E010C-528B-AA94-4E3E-09B3C170D81F}"/>
              </a:ext>
            </a:extLst>
          </p:cNvPr>
          <p:cNvSpPr txBox="1"/>
          <p:nvPr/>
        </p:nvSpPr>
        <p:spPr>
          <a:xfrm>
            <a:off x="1933993" y="2723689"/>
            <a:ext cx="6169481" cy="131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404040"/>
                </a:solidFill>
                <a:latin typeface="Arial Bold"/>
                <a:cs typeface="Arial Bold"/>
                <a:sym typeface="Arial Bold"/>
              </a:rPr>
              <a:t>Data &amp; Preprocessing</a:t>
            </a:r>
          </a:p>
          <a:p>
            <a:pPr>
              <a:lnSpc>
                <a:spcPts val="5280"/>
              </a:lnSpc>
            </a:pPr>
            <a:endParaRPr lang="en-US" sz="4400" b="1" dirty="0">
              <a:solidFill>
                <a:srgbClr val="40404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FA8E9BB3-8553-AB98-A526-627D287DBBAB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2B18E6B4-DC4F-8C62-2205-318758D5B001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E5CE565E-F0F2-7B9A-5F16-36B97ADE4E85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13" name="Freeform 5" descr="Viện Trí tuệ nhân tạo | Hanoi">
              <a:extLst>
                <a:ext uri="{FF2B5EF4-FFF2-40B4-BE49-F238E27FC236}">
                  <a16:creationId xmlns:a16="http://schemas.microsoft.com/office/drawing/2014/main" id="{976D059D-511E-51B2-A6F1-4C567E4832D8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" name="TextBox 22">
            <a:extLst>
              <a:ext uri="{FF2B5EF4-FFF2-40B4-BE49-F238E27FC236}">
                <a16:creationId xmlns:a16="http://schemas.microsoft.com/office/drawing/2014/main" id="{9FCE5AC0-2C24-CDD8-6A29-852B4AFB5A73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E096E38E-5C02-CA83-AFC4-4ACC76A0FE2E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9146FF55-8438-83DC-FBF4-6AE519CD0F54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5673815B-9EEF-F37C-E41A-488C3437CE49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848D8617-5D5D-91A6-2D59-6B72C0544B9D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6/20</a:t>
            </a:r>
          </a:p>
        </p:txBody>
      </p:sp>
    </p:spTree>
    <p:extLst>
      <p:ext uri="{BB962C8B-B14F-4D97-AF65-F5344CB8AC3E}">
        <p14:creationId xmlns:p14="http://schemas.microsoft.com/office/powerpoint/2010/main" val="242801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11480" y="960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Source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37360" y="1005840"/>
            <a:ext cx="0" cy="41148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74520" y="960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214 open-access studies: OpenNeuro, INDI, ADNI, OASIS-3, IXI, CamCAN, among others.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83210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Format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737360" y="1709928"/>
            <a:ext cx="0" cy="41148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74520" y="16642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T1-weighted MRI in NIfTI format (.nii.gz), organised following BIDS convention. One volume per subject.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2258568"/>
            <a:ext cx="83210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3682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Scale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37360" y="2414016"/>
            <a:ext cx="0" cy="41148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74520" y="236829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12,497 subjects successfully downloaded and processed. Age range 18–97 years, median 25 years.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2962656"/>
            <a:ext cx="83210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07238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Demographics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737360" y="3118104"/>
            <a:ext cx="0" cy="41148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874520" y="307238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Female 6,686 · Male 5,810 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1480" y="3666744"/>
            <a:ext cx="83210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37764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Limitation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737360" y="3822192"/>
            <a:ext cx="0" cy="41148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74520" y="377647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Entirely cross-sectional, each subject contributes exactly one scan at one age. No longitudinal pairs.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DFBBA74-A6D0-F988-3FA5-243693F1C196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E2C91720-68ED-5FE3-D27E-25D93FBF4CA6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TextBox 27">
            <a:extLst>
              <a:ext uri="{FF2B5EF4-FFF2-40B4-BE49-F238E27FC236}">
                <a16:creationId xmlns:a16="http://schemas.microsoft.com/office/drawing/2014/main" id="{84890B12-C4DE-2B7B-21C7-9B85F6B75394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Dataset</a:t>
            </a: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7D977F18-40F8-8EBE-BE59-989A25EE581B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2.1</a:t>
            </a: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09C4AE07-C434-DA84-EB52-1D37D628A7AE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5EEB4E40-94B5-A33B-54C0-76659FE00E6D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EBDFB604-9A64-1BE3-34F9-5E80C620410B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1C4F4C8D-D953-BABB-E97D-6B9741FA57FD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4" name="TextBox 25">
            <a:extLst>
              <a:ext uri="{FF2B5EF4-FFF2-40B4-BE49-F238E27FC236}">
                <a16:creationId xmlns:a16="http://schemas.microsoft.com/office/drawing/2014/main" id="{CDE03764-6F6B-5D70-7A59-6A9CF86B84A6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25" name="TextBox 26">
            <a:extLst>
              <a:ext uri="{FF2B5EF4-FFF2-40B4-BE49-F238E27FC236}">
                <a16:creationId xmlns:a16="http://schemas.microsoft.com/office/drawing/2014/main" id="{9810C281-DC45-E325-E61F-82DBB09475BD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C854-2408-79F1-D719-E9772A1F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ình ảnh 2">
            <a:extLst>
              <a:ext uri="{FF2B5EF4-FFF2-40B4-BE49-F238E27FC236}">
                <a16:creationId xmlns:a16="http://schemas.microsoft.com/office/drawing/2014/main" id="{5F9BC227-853B-A4AD-F79B-BCD8C3A75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6" y="430646"/>
            <a:ext cx="9057147" cy="4282207"/>
          </a:xfrm>
          <a:prstGeom prst="rect">
            <a:avLst/>
          </a:prstGeom>
        </p:spPr>
      </p:pic>
      <p:sp>
        <p:nvSpPr>
          <p:cNvPr id="2" name="TextBox 22">
            <a:extLst>
              <a:ext uri="{FF2B5EF4-FFF2-40B4-BE49-F238E27FC236}">
                <a16:creationId xmlns:a16="http://schemas.microsoft.com/office/drawing/2014/main" id="{D5D2D9C4-DE8B-FB7F-0FDE-E776091F7506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E3B39B42-0F67-DDCC-22DA-C1997C176222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45161E0D-B2AF-CED3-1911-B3AA7E1F4413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6" name="TextBox 25">
            <a:extLst>
              <a:ext uri="{FF2B5EF4-FFF2-40B4-BE49-F238E27FC236}">
                <a16:creationId xmlns:a16="http://schemas.microsoft.com/office/drawing/2014/main" id="{F763ABBF-E059-A1C7-CFA9-4B5CB947D524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14CDFA50-EAF2-2700-85F7-D69DCC45CEF5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8/20</a:t>
            </a:r>
          </a:p>
        </p:txBody>
      </p:sp>
    </p:spTree>
    <p:extLst>
      <p:ext uri="{BB962C8B-B14F-4D97-AF65-F5344CB8AC3E}">
        <p14:creationId xmlns:p14="http://schemas.microsoft.com/office/powerpoint/2010/main" val="2922389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8">
            <a:extLst>
              <a:ext uri="{FF2B5EF4-FFF2-40B4-BE49-F238E27FC236}">
                <a16:creationId xmlns:a16="http://schemas.microsoft.com/office/drawing/2014/main" id="{29FB1397-24DC-6594-08EC-37159A408A88}"/>
              </a:ext>
            </a:extLst>
          </p:cNvPr>
          <p:cNvSpPr/>
          <p:nvPr/>
        </p:nvSpPr>
        <p:spPr>
          <a:xfrm>
            <a:off x="2940148" y="704849"/>
            <a:ext cx="3291840" cy="475488"/>
          </a:xfrm>
          <a:prstGeom prst="rect">
            <a:avLst/>
          </a:prstGeom>
          <a:solidFill>
            <a:srgbClr val="F4F6FB"/>
          </a:solidFill>
          <a:ln w="1905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43" name="Group 25">
            <a:extLst>
              <a:ext uri="{FF2B5EF4-FFF2-40B4-BE49-F238E27FC236}">
                <a16:creationId xmlns:a16="http://schemas.microsoft.com/office/drawing/2014/main" id="{733697D7-7BBC-3834-01F4-ABC131272ABE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D0D17ECB-D226-15F2-4F65-3883C9F71441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TextBox 27">
            <a:extLst>
              <a:ext uri="{FF2B5EF4-FFF2-40B4-BE49-F238E27FC236}">
                <a16:creationId xmlns:a16="http://schemas.microsoft.com/office/drawing/2014/main" id="{FCD58D46-1FE0-35C7-5C25-D0A52A496BC7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Preprocessing Pipeline</a:t>
            </a:r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5A9E5020-853F-94A4-428D-7DBEF2449DEB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2.2</a:t>
            </a:r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7A5BD42D-9AE6-8E90-9D29-79F789ED0A0B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F2774781-78CE-4DAF-93D5-36781E8DC190}"/>
              </a:ext>
            </a:extLst>
          </p:cNvPr>
          <p:cNvSpPr/>
          <p:nvPr/>
        </p:nvSpPr>
        <p:spPr>
          <a:xfrm>
            <a:off x="3017520" y="73863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MRI (.nii.gz)</a:t>
            </a:r>
            <a:endParaRPr lang="en-US" sz="1300" dirty="0"/>
          </a:p>
        </p:txBody>
      </p:sp>
      <p:sp>
        <p:nvSpPr>
          <p:cNvPr id="79" name="Shape 6">
            <a:extLst>
              <a:ext uri="{FF2B5EF4-FFF2-40B4-BE49-F238E27FC236}">
                <a16:creationId xmlns:a16="http://schemas.microsoft.com/office/drawing/2014/main" id="{C10264BC-474F-8E2C-EF35-321DCB324C61}"/>
              </a:ext>
            </a:extLst>
          </p:cNvPr>
          <p:cNvSpPr/>
          <p:nvPr/>
        </p:nvSpPr>
        <p:spPr>
          <a:xfrm>
            <a:off x="4572000" y="1211609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2C4A2BB6-2765-B723-696B-52879964F683}"/>
              </a:ext>
            </a:extLst>
          </p:cNvPr>
          <p:cNvSpPr/>
          <p:nvPr/>
        </p:nvSpPr>
        <p:spPr>
          <a:xfrm>
            <a:off x="4527688" y="1333997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81" name="Shape 8">
            <a:extLst>
              <a:ext uri="{FF2B5EF4-FFF2-40B4-BE49-F238E27FC236}">
                <a16:creationId xmlns:a16="http://schemas.microsoft.com/office/drawing/2014/main" id="{6C5D2129-2FFD-2473-886D-79A030914D0D}"/>
              </a:ext>
            </a:extLst>
          </p:cNvPr>
          <p:cNvSpPr/>
          <p:nvPr/>
        </p:nvSpPr>
        <p:spPr>
          <a:xfrm>
            <a:off x="2926080" y="1478895"/>
            <a:ext cx="3291840" cy="475488"/>
          </a:xfrm>
          <a:prstGeom prst="rect">
            <a:avLst/>
          </a:prstGeom>
          <a:solidFill>
            <a:srgbClr val="F4F6FB"/>
          </a:solidFill>
          <a:ln w="1905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9FBCD004-05B8-A5CC-2AA5-5D077E77926B}"/>
              </a:ext>
            </a:extLst>
          </p:cNvPr>
          <p:cNvSpPr/>
          <p:nvPr/>
        </p:nvSpPr>
        <p:spPr>
          <a:xfrm>
            <a:off x="3017520" y="1506327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 Stripping</a:t>
            </a:r>
            <a:endParaRPr lang="en-US" sz="1300" dirty="0"/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D635AD9C-07CF-1B75-BE2E-3558138038B6}"/>
              </a:ext>
            </a:extLst>
          </p:cNvPr>
          <p:cNvSpPr/>
          <p:nvPr/>
        </p:nvSpPr>
        <p:spPr>
          <a:xfrm>
            <a:off x="3017520" y="1725783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skull, scalp and dura — retains only brain tissue</a:t>
            </a:r>
            <a:endParaRPr lang="en-US" sz="1000" dirty="0"/>
          </a:p>
        </p:txBody>
      </p:sp>
      <p:sp>
        <p:nvSpPr>
          <p:cNvPr id="84" name="Shape 11">
            <a:extLst>
              <a:ext uri="{FF2B5EF4-FFF2-40B4-BE49-F238E27FC236}">
                <a16:creationId xmlns:a16="http://schemas.microsoft.com/office/drawing/2014/main" id="{28CB4E60-203F-C04D-5020-E363396EA5E6}"/>
              </a:ext>
            </a:extLst>
          </p:cNvPr>
          <p:cNvSpPr/>
          <p:nvPr/>
        </p:nvSpPr>
        <p:spPr>
          <a:xfrm>
            <a:off x="4572000" y="1972671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FDEF7B58-EC93-79D0-E8CC-9BB704A9064D}"/>
              </a:ext>
            </a:extLst>
          </p:cNvPr>
          <p:cNvSpPr/>
          <p:nvPr/>
        </p:nvSpPr>
        <p:spPr>
          <a:xfrm>
            <a:off x="4527688" y="2095059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86" name="Shape 13">
            <a:extLst>
              <a:ext uri="{FF2B5EF4-FFF2-40B4-BE49-F238E27FC236}">
                <a16:creationId xmlns:a16="http://schemas.microsoft.com/office/drawing/2014/main" id="{6638BC86-D563-EDD5-AFE4-FB6EF3FD2038}"/>
              </a:ext>
            </a:extLst>
          </p:cNvPr>
          <p:cNvSpPr/>
          <p:nvPr/>
        </p:nvSpPr>
        <p:spPr>
          <a:xfrm>
            <a:off x="2926080" y="2246991"/>
            <a:ext cx="3291840" cy="475488"/>
          </a:xfrm>
          <a:prstGeom prst="rect">
            <a:avLst/>
          </a:prstGeom>
          <a:solidFill>
            <a:srgbClr val="F4F6FB"/>
          </a:solidFill>
          <a:ln w="1905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5">
            <a:extLst>
              <a:ext uri="{FF2B5EF4-FFF2-40B4-BE49-F238E27FC236}">
                <a16:creationId xmlns:a16="http://schemas.microsoft.com/office/drawing/2014/main" id="{263B5253-449C-F2CA-2CC7-2A0CE3E7214A}"/>
              </a:ext>
            </a:extLst>
          </p:cNvPr>
          <p:cNvSpPr/>
          <p:nvPr/>
        </p:nvSpPr>
        <p:spPr>
          <a:xfrm>
            <a:off x="3031588" y="95809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brain scans from 214 sources, varying formats and sizes</a:t>
            </a:r>
            <a:endParaRPr lang="en-US" sz="1000" dirty="0"/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153E9A64-6463-BBA7-0CF0-38F8C7633757}"/>
              </a:ext>
            </a:extLst>
          </p:cNvPr>
          <p:cNvSpPr/>
          <p:nvPr/>
        </p:nvSpPr>
        <p:spPr>
          <a:xfrm>
            <a:off x="3017520" y="2274423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Normalisation</a:t>
            </a:r>
            <a:endParaRPr lang="en-US" sz="1300" dirty="0"/>
          </a:p>
        </p:txBody>
      </p:sp>
      <p:sp>
        <p:nvSpPr>
          <p:cNvPr id="88" name="Text 15">
            <a:extLst>
              <a:ext uri="{FF2B5EF4-FFF2-40B4-BE49-F238E27FC236}">
                <a16:creationId xmlns:a16="http://schemas.microsoft.com/office/drawing/2014/main" id="{27CC00BD-9022-0A93-C76D-59F9560F8C58}"/>
              </a:ext>
            </a:extLst>
          </p:cNvPr>
          <p:cNvSpPr/>
          <p:nvPr/>
        </p:nvSpPr>
        <p:spPr>
          <a:xfrm>
            <a:off x="3017520" y="2493879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all scans to [0, 1] — removes scanner artefacts</a:t>
            </a:r>
            <a:endParaRPr lang="en-US" sz="1000" dirty="0"/>
          </a:p>
        </p:txBody>
      </p:sp>
      <p:sp>
        <p:nvSpPr>
          <p:cNvPr id="89" name="Shape 16">
            <a:extLst>
              <a:ext uri="{FF2B5EF4-FFF2-40B4-BE49-F238E27FC236}">
                <a16:creationId xmlns:a16="http://schemas.microsoft.com/office/drawing/2014/main" id="{7B51DD21-EE63-1CE7-D332-D6526AA3A06C}"/>
              </a:ext>
            </a:extLst>
          </p:cNvPr>
          <p:cNvSpPr/>
          <p:nvPr/>
        </p:nvSpPr>
        <p:spPr>
          <a:xfrm>
            <a:off x="4572000" y="2740767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17">
            <a:extLst>
              <a:ext uri="{FF2B5EF4-FFF2-40B4-BE49-F238E27FC236}">
                <a16:creationId xmlns:a16="http://schemas.microsoft.com/office/drawing/2014/main" id="{3690B74F-5C3A-ECC8-30F1-F4BEE1417824}"/>
              </a:ext>
            </a:extLst>
          </p:cNvPr>
          <p:cNvSpPr/>
          <p:nvPr/>
        </p:nvSpPr>
        <p:spPr>
          <a:xfrm>
            <a:off x="4527688" y="2870189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91" name="Shape 18">
            <a:extLst>
              <a:ext uri="{FF2B5EF4-FFF2-40B4-BE49-F238E27FC236}">
                <a16:creationId xmlns:a16="http://schemas.microsoft.com/office/drawing/2014/main" id="{6588E913-4CA6-A6E0-D51E-19F1D0ED9EFA}"/>
              </a:ext>
            </a:extLst>
          </p:cNvPr>
          <p:cNvSpPr/>
          <p:nvPr/>
        </p:nvSpPr>
        <p:spPr>
          <a:xfrm>
            <a:off x="2926080" y="3015087"/>
            <a:ext cx="3291840" cy="475488"/>
          </a:xfrm>
          <a:prstGeom prst="rect">
            <a:avLst/>
          </a:prstGeom>
          <a:solidFill>
            <a:srgbClr val="F4F6FB"/>
          </a:solidFill>
          <a:ln w="1905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19">
            <a:extLst>
              <a:ext uri="{FF2B5EF4-FFF2-40B4-BE49-F238E27FC236}">
                <a16:creationId xmlns:a16="http://schemas.microsoft.com/office/drawing/2014/main" id="{E79AD27D-46CC-2A20-01D2-5E4E73AD9173}"/>
              </a:ext>
            </a:extLst>
          </p:cNvPr>
          <p:cNvSpPr/>
          <p:nvPr/>
        </p:nvSpPr>
        <p:spPr>
          <a:xfrm>
            <a:off x="3017520" y="3042519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Size Normalisation</a:t>
            </a:r>
            <a:endParaRPr lang="en-US" sz="1300" dirty="0"/>
          </a:p>
        </p:txBody>
      </p:sp>
      <p:sp>
        <p:nvSpPr>
          <p:cNvPr id="93" name="Text 20">
            <a:extLst>
              <a:ext uri="{FF2B5EF4-FFF2-40B4-BE49-F238E27FC236}">
                <a16:creationId xmlns:a16="http://schemas.microsoft.com/office/drawing/2014/main" id="{335AE4A9-CF3C-9D8B-1B32-025AC3F7CDCC}"/>
              </a:ext>
            </a:extLst>
          </p:cNvPr>
          <p:cNvSpPr/>
          <p:nvPr/>
        </p:nvSpPr>
        <p:spPr>
          <a:xfrm>
            <a:off x="3017520" y="3261975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to 1 mm isotropic — physical brain size faithfully represented</a:t>
            </a:r>
            <a:endParaRPr lang="en-US" sz="1000" dirty="0"/>
          </a:p>
        </p:txBody>
      </p:sp>
      <p:sp>
        <p:nvSpPr>
          <p:cNvPr id="94" name="Shape 21">
            <a:extLst>
              <a:ext uri="{FF2B5EF4-FFF2-40B4-BE49-F238E27FC236}">
                <a16:creationId xmlns:a16="http://schemas.microsoft.com/office/drawing/2014/main" id="{1E67D728-8F4F-22AE-DA65-57350C28C72A}"/>
              </a:ext>
            </a:extLst>
          </p:cNvPr>
          <p:cNvSpPr/>
          <p:nvPr/>
        </p:nvSpPr>
        <p:spPr>
          <a:xfrm>
            <a:off x="4586068" y="3487761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22">
            <a:extLst>
              <a:ext uri="{FF2B5EF4-FFF2-40B4-BE49-F238E27FC236}">
                <a16:creationId xmlns:a16="http://schemas.microsoft.com/office/drawing/2014/main" id="{75A6DE56-D3F3-FC14-0FA0-73507766EF67}"/>
              </a:ext>
            </a:extLst>
          </p:cNvPr>
          <p:cNvSpPr/>
          <p:nvPr/>
        </p:nvSpPr>
        <p:spPr>
          <a:xfrm>
            <a:off x="2011680" y="3677675"/>
            <a:ext cx="5120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23">
            <a:extLst>
              <a:ext uri="{FF2B5EF4-FFF2-40B4-BE49-F238E27FC236}">
                <a16:creationId xmlns:a16="http://schemas.microsoft.com/office/drawing/2014/main" id="{68EBDEB1-55BB-DFD9-D7D6-095867C3CE49}"/>
              </a:ext>
            </a:extLst>
          </p:cNvPr>
          <p:cNvSpPr/>
          <p:nvPr/>
        </p:nvSpPr>
        <p:spPr>
          <a:xfrm>
            <a:off x="2011680" y="3677675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24">
            <a:extLst>
              <a:ext uri="{FF2B5EF4-FFF2-40B4-BE49-F238E27FC236}">
                <a16:creationId xmlns:a16="http://schemas.microsoft.com/office/drawing/2014/main" id="{F85647FA-E5F7-C6D5-7D05-D69F799845CE}"/>
              </a:ext>
            </a:extLst>
          </p:cNvPr>
          <p:cNvSpPr/>
          <p:nvPr/>
        </p:nvSpPr>
        <p:spPr>
          <a:xfrm>
            <a:off x="1969475" y="3714251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98" name="Shape 25">
            <a:extLst>
              <a:ext uri="{FF2B5EF4-FFF2-40B4-BE49-F238E27FC236}">
                <a16:creationId xmlns:a16="http://schemas.microsoft.com/office/drawing/2014/main" id="{0326A1B8-7C5D-45C1-CA4F-61A5E0D1EBD1}"/>
              </a:ext>
            </a:extLst>
          </p:cNvPr>
          <p:cNvSpPr/>
          <p:nvPr/>
        </p:nvSpPr>
        <p:spPr>
          <a:xfrm>
            <a:off x="7132320" y="3677675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26">
            <a:extLst>
              <a:ext uri="{FF2B5EF4-FFF2-40B4-BE49-F238E27FC236}">
                <a16:creationId xmlns:a16="http://schemas.microsoft.com/office/drawing/2014/main" id="{9BB6C96F-BA7E-B905-549B-4673F5580779}"/>
              </a:ext>
            </a:extLst>
          </p:cNvPr>
          <p:cNvSpPr/>
          <p:nvPr/>
        </p:nvSpPr>
        <p:spPr>
          <a:xfrm>
            <a:off x="7088008" y="3728319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00" name="Shape 27">
            <a:extLst>
              <a:ext uri="{FF2B5EF4-FFF2-40B4-BE49-F238E27FC236}">
                <a16:creationId xmlns:a16="http://schemas.microsoft.com/office/drawing/2014/main" id="{9FED4A59-A959-E732-4EBB-ACF7B0026F19}"/>
              </a:ext>
            </a:extLst>
          </p:cNvPr>
          <p:cNvSpPr/>
          <p:nvPr/>
        </p:nvSpPr>
        <p:spPr>
          <a:xfrm>
            <a:off x="318460" y="3873627"/>
            <a:ext cx="3383280" cy="566928"/>
          </a:xfrm>
          <a:prstGeom prst="rect">
            <a:avLst/>
          </a:prstGeom>
          <a:solidFill>
            <a:srgbClr val="E8F0FA"/>
          </a:solidFill>
          <a:ln w="254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072629CE-666A-D628-6DF5-6E4213E218F4}"/>
              </a:ext>
            </a:extLst>
          </p:cNvPr>
          <p:cNvSpPr/>
          <p:nvPr/>
        </p:nvSpPr>
        <p:spPr>
          <a:xfrm>
            <a:off x="409900" y="391020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— Extract Axial Mid-Slice</a:t>
            </a:r>
            <a:endParaRPr lang="en-US" sz="1300" dirty="0"/>
          </a:p>
        </p:txBody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9AEC145D-FC0A-F5C1-9142-7CFE743113FA}"/>
              </a:ext>
            </a:extLst>
          </p:cNvPr>
          <p:cNvSpPr/>
          <p:nvPr/>
        </p:nvSpPr>
        <p:spPr>
          <a:xfrm>
            <a:off x="409900" y="4166235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mid-slice → PNG 256×256 · Fast training, high spatial detail</a:t>
            </a:r>
            <a:endParaRPr lang="en-US" sz="1000" dirty="0"/>
          </a:p>
        </p:txBody>
      </p:sp>
      <p:sp>
        <p:nvSpPr>
          <p:cNvPr id="103" name="Shape 30">
            <a:extLst>
              <a:ext uri="{FF2B5EF4-FFF2-40B4-BE49-F238E27FC236}">
                <a16:creationId xmlns:a16="http://schemas.microsoft.com/office/drawing/2014/main" id="{7C9E4AF8-2503-0DCE-696B-428364576903}"/>
              </a:ext>
            </a:extLst>
          </p:cNvPr>
          <p:cNvSpPr/>
          <p:nvPr/>
        </p:nvSpPr>
        <p:spPr>
          <a:xfrm>
            <a:off x="5439100" y="3873627"/>
            <a:ext cx="3383280" cy="566928"/>
          </a:xfrm>
          <a:prstGeom prst="rect">
            <a:avLst/>
          </a:prstGeom>
          <a:solidFill>
            <a:srgbClr val="E8F5EC"/>
          </a:solidFill>
          <a:ln w="25400">
            <a:solidFill>
              <a:srgbClr val="1A9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31">
            <a:extLst>
              <a:ext uri="{FF2B5EF4-FFF2-40B4-BE49-F238E27FC236}">
                <a16:creationId xmlns:a16="http://schemas.microsoft.com/office/drawing/2014/main" id="{B88FE8FB-3BFE-C72F-714D-92D9456C9C2E}"/>
              </a:ext>
            </a:extLst>
          </p:cNvPr>
          <p:cNvSpPr/>
          <p:nvPr/>
        </p:nvSpPr>
        <p:spPr>
          <a:xfrm>
            <a:off x="5530540" y="391020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— Retain Full Volume</a:t>
            </a:r>
            <a:endParaRPr lang="en-US" sz="1300" dirty="0"/>
          </a:p>
        </p:txBody>
      </p:sp>
      <p:sp>
        <p:nvSpPr>
          <p:cNvPr id="105" name="Text 32">
            <a:extLst>
              <a:ext uri="{FF2B5EF4-FFF2-40B4-BE49-F238E27FC236}">
                <a16:creationId xmlns:a16="http://schemas.microsoft.com/office/drawing/2014/main" id="{E2E573C1-4771-BE47-61D6-198F38459058}"/>
              </a:ext>
            </a:extLst>
          </p:cNvPr>
          <p:cNvSpPr/>
          <p:nvPr/>
        </p:nvSpPr>
        <p:spPr>
          <a:xfrm>
            <a:off x="5530540" y="4166235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volume → NIfTI 64×64×64 · Captures cross-slice spatial context</a:t>
            </a:r>
            <a:endParaRPr lang="en-US" sz="1000" dirty="0"/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2852A0E8-4FF9-6F4B-4107-CDDDAF36CC2F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98CC0D04-3991-E3A4-EBF8-12F605D4F67B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81FD9307-96FE-731C-8158-6D966D731B25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82280286-0106-BFC5-C7DB-4E09A58E9E32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CB23735D-8FA7-C0F1-E97E-429E65E0472E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7CF99-A521-0BA3-01F5-A04F1053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8E02547-3330-756D-3AD0-25808E38B907}"/>
              </a:ext>
            </a:extLst>
          </p:cNvPr>
          <p:cNvSpPr txBox="1"/>
          <p:nvPr/>
        </p:nvSpPr>
        <p:spPr>
          <a:xfrm>
            <a:off x="3737172" y="1137955"/>
            <a:ext cx="16230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10000" b="1" dirty="0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03 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0BCB584-C6E3-6A7A-0B5D-8652765DC44E}"/>
              </a:ext>
            </a:extLst>
          </p:cNvPr>
          <p:cNvGrpSpPr/>
          <p:nvPr/>
        </p:nvGrpSpPr>
        <p:grpSpPr>
          <a:xfrm>
            <a:off x="3348804" y="2571750"/>
            <a:ext cx="2309100" cy="36000"/>
            <a:chOff x="0" y="0"/>
            <a:chExt cx="6157600" cy="9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D4CA4DD-E2C5-C7BC-B72E-228689F0AA20}"/>
                </a:ext>
              </a:extLst>
            </p:cNvPr>
            <p:cNvSpPr/>
            <p:nvPr/>
          </p:nvSpPr>
          <p:spPr>
            <a:xfrm>
              <a:off x="0" y="0"/>
              <a:ext cx="6157595" cy="96012"/>
            </a:xfrm>
            <a:custGeom>
              <a:avLst/>
              <a:gdLst/>
              <a:ahLst/>
              <a:cxnLst/>
              <a:rect l="l" t="t" r="r" b="b"/>
              <a:pathLst>
                <a:path w="6157595" h="96012">
                  <a:moveTo>
                    <a:pt x="0" y="0"/>
                  </a:moveTo>
                  <a:lnTo>
                    <a:pt x="6157595" y="0"/>
                  </a:lnTo>
                  <a:lnTo>
                    <a:pt x="6157595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DC0FFDE8-267D-E714-DD58-8960B41C3FC3}"/>
              </a:ext>
            </a:extLst>
          </p:cNvPr>
          <p:cNvSpPr txBox="1"/>
          <p:nvPr/>
        </p:nvSpPr>
        <p:spPr>
          <a:xfrm>
            <a:off x="1631538" y="2715604"/>
            <a:ext cx="6682469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GAN Model </a:t>
            </a:r>
            <a:r>
              <a:rPr lang="en-US" sz="4400" b="1" dirty="0" err="1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Artitecture</a:t>
            </a:r>
            <a:endParaRPr lang="en-US" sz="4400" b="1" dirty="0">
              <a:solidFill>
                <a:srgbClr val="40404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0806AD00-B5AE-4F8E-BEC4-D9F8EEE4CF16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C5425D11-FA0E-4CD9-A92F-211476B039D8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9DD97D62-2462-F0D2-B11F-2582AFA8E6B1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13" name="Freeform 5" descr="Viện Trí tuệ nhân tạo | Hanoi">
              <a:extLst>
                <a:ext uri="{FF2B5EF4-FFF2-40B4-BE49-F238E27FC236}">
                  <a16:creationId xmlns:a16="http://schemas.microsoft.com/office/drawing/2014/main" id="{B142417C-ABBC-3583-023A-DFD864313C82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0" name="TextBox 22">
            <a:extLst>
              <a:ext uri="{FF2B5EF4-FFF2-40B4-BE49-F238E27FC236}">
                <a16:creationId xmlns:a16="http://schemas.microsoft.com/office/drawing/2014/main" id="{38B8E0CC-ABE0-142D-F811-D5331C934862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21" name="Group 23">
            <a:extLst>
              <a:ext uri="{FF2B5EF4-FFF2-40B4-BE49-F238E27FC236}">
                <a16:creationId xmlns:a16="http://schemas.microsoft.com/office/drawing/2014/main" id="{59643DD6-8A68-4B61-9CBC-81C85D9E551F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5930A310-DC03-178E-3D66-9C83EA3A1D8A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3" name="TextBox 25">
            <a:extLst>
              <a:ext uri="{FF2B5EF4-FFF2-40B4-BE49-F238E27FC236}">
                <a16:creationId xmlns:a16="http://schemas.microsoft.com/office/drawing/2014/main" id="{FC52153B-C317-51BD-39CE-B34DACD50CC8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2485822C-1BFB-2EEB-D6DE-C7845BB973E5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10/20</a:t>
            </a:r>
          </a:p>
        </p:txBody>
      </p:sp>
    </p:spTree>
    <p:extLst>
      <p:ext uri="{BB962C8B-B14F-4D97-AF65-F5344CB8AC3E}">
        <p14:creationId xmlns:p14="http://schemas.microsoft.com/office/powerpoint/2010/main" val="1181802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5">
            <a:extLst>
              <a:ext uri="{FF2B5EF4-FFF2-40B4-BE49-F238E27FC236}">
                <a16:creationId xmlns:a16="http://schemas.microsoft.com/office/drawing/2014/main" id="{8D599852-5C29-A95B-723D-0B68CBC4E5E9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74F12D36-8DD4-CCB4-F92F-45C0F25898DC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Box 27">
            <a:extLst>
              <a:ext uri="{FF2B5EF4-FFF2-40B4-BE49-F238E27FC236}">
                <a16:creationId xmlns:a16="http://schemas.microsoft.com/office/drawing/2014/main" id="{7A643A9F-41BD-A89A-9FF5-E2DD1A4B0FEE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GAN Architecture</a:t>
            </a:r>
          </a:p>
        </p:txBody>
      </p:sp>
      <p:sp>
        <p:nvSpPr>
          <p:cNvPr id="24" name="TextBox 28">
            <a:extLst>
              <a:ext uri="{FF2B5EF4-FFF2-40B4-BE49-F238E27FC236}">
                <a16:creationId xmlns:a16="http://schemas.microsoft.com/office/drawing/2014/main" id="{B2FBCD92-A800-FD34-3F76-3DF735D516AB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3.1</a:t>
            </a: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16598D7B-0809-8F0B-3880-D724E1CDDEA6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41246D67-33A7-E131-C24A-945E907C02B7}"/>
              </a:ext>
            </a:extLst>
          </p:cNvPr>
          <p:cNvSpPr/>
          <p:nvPr/>
        </p:nvSpPr>
        <p:spPr>
          <a:xfrm>
            <a:off x="318460" y="73703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Cambria Math" panose="02040503050406030204" pitchFamily="18" charset="0"/>
              <a:buChar char="―"/>
            </a:pPr>
            <a:r>
              <a:rPr lang="en-US" sz="13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A GAN (Generative Adversarial Network, Goodfellow et al. 2014) trains two networks against each other: a Generator that produces fake images, and a Discriminator that tries to tell real from fake. Training stops when the Generator fools the Discriminator consistently.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29CF42DA-688F-7999-8AEC-28D6BBB216F2}"/>
              </a:ext>
            </a:extLst>
          </p:cNvPr>
          <p:cNvSpPr/>
          <p:nvPr/>
        </p:nvSpPr>
        <p:spPr>
          <a:xfrm>
            <a:off x="318460" y="148683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Cambria Math" panose="02040503050406030204" pitchFamily="18" charset="0"/>
              <a:buChar char="―"/>
            </a:pPr>
            <a:r>
              <a:rPr lang="en-US" sz="13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A Conditional GAN is a GAN with one small addition: both networks also receive a condition as input, so the Generator learns to produce output that matches the condition rather than random samples.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14217A15-CD80-4FC5-270B-FBBBDD8BEAAF}"/>
              </a:ext>
            </a:extLst>
          </p:cNvPr>
          <p:cNvSpPr/>
          <p:nvPr/>
        </p:nvSpPr>
        <p:spPr>
          <a:xfrm>
            <a:off x="346596" y="215435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=&gt; This project uses a Conditional U-Net GAN</a:t>
            </a:r>
            <a:r>
              <a:rPr lang="en-US" sz="13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conditioned on target age, trained with </a:t>
            </a:r>
            <a:r>
              <a:rPr lang="en-US" sz="13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Wasserstein distance + Gradient Penalty (WGAN-GP)</a:t>
            </a:r>
            <a:r>
              <a:rPr lang="en-US" sz="13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— a method that only changes how the loss is computed, making training more stable: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FF6E6855-BAFE-9F05-C6CE-5D278BBF0041}"/>
              </a:ext>
            </a:extLst>
          </p:cNvPr>
          <p:cNvSpPr/>
          <p:nvPr/>
        </p:nvSpPr>
        <p:spPr>
          <a:xfrm>
            <a:off x="318460" y="2821862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·  </a:t>
            </a:r>
            <a:r>
              <a:rPr lang="en-US" sz="130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Wasserstein loss</a:t>
            </a:r>
            <a:r>
              <a:rPr lang="en-US" sz="13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— measures the "distance" between real and fake distributions, giving smoother gradients than binary cross-entropy</a:t>
            </a:r>
            <a:endParaRPr lang="en-US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DF357D16-D887-A0F2-F042-622261580AFE}"/>
              </a:ext>
            </a:extLst>
          </p:cNvPr>
          <p:cNvSpPr/>
          <p:nvPr/>
        </p:nvSpPr>
        <p:spPr>
          <a:xfrm>
            <a:off x="346596" y="326077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·  </a:t>
            </a:r>
            <a:r>
              <a:rPr lang="en-US" sz="130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Gradient penalty</a:t>
            </a:r>
            <a:r>
              <a:rPr lang="en-US" sz="13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— penalises the Discriminator when its gradients grow too large, preventing training collapse</a:t>
            </a:r>
            <a:endParaRPr lang="en-US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81443E03-261A-44F7-CB9E-F45BEC33A06E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8" name="Group 23">
            <a:extLst>
              <a:ext uri="{FF2B5EF4-FFF2-40B4-BE49-F238E27FC236}">
                <a16:creationId xmlns:a16="http://schemas.microsoft.com/office/drawing/2014/main" id="{85F2A660-E955-59DF-DFFA-61D6230F0FA8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9" name="Freeform 24">
              <a:extLst>
                <a:ext uri="{FF2B5EF4-FFF2-40B4-BE49-F238E27FC236}">
                  <a16:creationId xmlns:a16="http://schemas.microsoft.com/office/drawing/2014/main" id="{E57C1490-429E-ED02-A6C2-18EABE66C721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10" name="TextBox 25">
            <a:extLst>
              <a:ext uri="{FF2B5EF4-FFF2-40B4-BE49-F238E27FC236}">
                <a16:creationId xmlns:a16="http://schemas.microsoft.com/office/drawing/2014/main" id="{1D3828F1-84D9-560D-D3E1-F270DC466799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CD9E9C8D-1E1B-5DA9-3707-801DD9C8CC92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1516497"/>
            <a:ext cx="1371600" cy="420624"/>
          </a:xfrm>
          <a:prstGeom prst="rect">
            <a:avLst/>
          </a:prstGeom>
          <a:solidFill>
            <a:srgbClr val="216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307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63385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74520" y="1617081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1516497"/>
            <a:ext cx="1371600" cy="420624"/>
          </a:xfrm>
          <a:prstGeom prst="rect">
            <a:avLst/>
          </a:prstGeom>
          <a:solidFill>
            <a:srgbClr val="216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155307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763385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29000" y="1617081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1516497"/>
            <a:ext cx="1371600" cy="420624"/>
          </a:xfrm>
          <a:prstGeom prst="rect">
            <a:avLst/>
          </a:prstGeom>
          <a:solidFill>
            <a:srgbClr val="216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155307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1763385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6995" y="161637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20640" y="1516497"/>
            <a:ext cx="1371600" cy="420624"/>
          </a:xfrm>
          <a:prstGeom prst="rect">
            <a:avLst/>
          </a:prstGeom>
          <a:solidFill>
            <a:srgbClr val="216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155307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1763385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2356" y="1193834"/>
            <a:ext cx="12070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(Preprocessed Data)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43000" y="1461633"/>
            <a:ext cx="0" cy="5486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5120" y="1617081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12280" y="1516497"/>
            <a:ext cx="1508760" cy="420624"/>
          </a:xfrm>
          <a:prstGeom prst="rect">
            <a:avLst/>
          </a:prstGeom>
          <a:solidFill>
            <a:srgbClr val="5B2D8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12280" y="1553073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1763385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12280" y="894705"/>
            <a:ext cx="1508760" cy="402336"/>
          </a:xfrm>
          <a:prstGeom prst="rect">
            <a:avLst/>
          </a:prstGeom>
          <a:solidFill>
            <a:srgbClr val="9B222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12280" y="894705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Embedding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(MLP → 512-dim)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66660" y="1297041"/>
            <a:ext cx="0" cy="146304"/>
          </a:xfrm>
          <a:prstGeom prst="line">
            <a:avLst/>
          </a:prstGeom>
          <a:noFill/>
          <a:ln w="1905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17422" y="13761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566660" y="1937121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06440" y="2120001"/>
            <a:ext cx="17602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06440" y="2120001"/>
            <a:ext cx="0" cy="246888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60718" y="229092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199" y="2331911"/>
            <a:ext cx="1371600" cy="420624"/>
          </a:xfrm>
          <a:prstGeom prst="rect">
            <a:avLst/>
          </a:prstGeom>
          <a:solidFill>
            <a:srgbClr val="1A96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199" y="236848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199" y="2578799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011679" y="2331911"/>
            <a:ext cx="1371600" cy="420624"/>
          </a:xfrm>
          <a:prstGeom prst="rect">
            <a:avLst/>
          </a:prstGeom>
          <a:solidFill>
            <a:srgbClr val="1A96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011679" y="236848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011679" y="2578799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883663" y="2432495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566159" y="2331911"/>
            <a:ext cx="1371600" cy="420624"/>
          </a:xfrm>
          <a:prstGeom prst="rect">
            <a:avLst/>
          </a:prstGeom>
          <a:solidFill>
            <a:srgbClr val="1A96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566159" y="236848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566159" y="2578799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438143" y="2432495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20639" y="2331911"/>
            <a:ext cx="1371600" cy="420624"/>
          </a:xfrm>
          <a:prstGeom prst="rect">
            <a:avLst/>
          </a:prstGeom>
          <a:solidFill>
            <a:srgbClr val="1A96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120639" y="236848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20639" y="2578799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92623" y="2432495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" y="2798255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(Tanh)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142999" y="2752535"/>
            <a:ext cx="0" cy="5486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143000" y="1937121"/>
            <a:ext cx="0" cy="402336"/>
          </a:xfrm>
          <a:prstGeom prst="line">
            <a:avLst/>
          </a:prstGeom>
          <a:noFill/>
          <a:ln w="12700">
            <a:solidFill>
              <a:srgbClr val="D482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697480" y="1937121"/>
            <a:ext cx="0" cy="429768"/>
          </a:xfrm>
          <a:prstGeom prst="line">
            <a:avLst/>
          </a:prstGeom>
          <a:noFill/>
          <a:ln w="12700">
            <a:solidFill>
              <a:srgbClr val="D482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251960" y="1937121"/>
            <a:ext cx="0" cy="429768"/>
          </a:xfrm>
          <a:prstGeom prst="line">
            <a:avLst/>
          </a:prstGeom>
          <a:noFill/>
          <a:ln w="12700">
            <a:solidFill>
              <a:srgbClr val="D482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 flipH="1">
            <a:off x="5806439" y="1937121"/>
            <a:ext cx="1" cy="402336"/>
          </a:xfrm>
          <a:prstGeom prst="line">
            <a:avLst/>
          </a:prstGeom>
          <a:noFill/>
          <a:ln w="12700">
            <a:solidFill>
              <a:srgbClr val="D482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57199" y="3142372"/>
            <a:ext cx="8321040" cy="0"/>
          </a:xfrm>
          <a:prstGeom prst="line">
            <a:avLst/>
          </a:prstGeom>
          <a:noFill/>
          <a:ln w="1016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57199" y="32063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Both 2D and 3D models share this U-Net architecture. The only differences are: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48639" y="353556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·  </a:t>
            </a: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2D model: 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Input = axial mid-slice PNG (256×256)  ·  Conv2d  ·  8 encoder levels  ·  Output = synthetic 2D slice (256×256)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48639" y="40110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·  </a:t>
            </a: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3D model: 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Input = full NIfTI volume (64×64×64)  ·  Conv3d  ·  4 encoder levels  ·  Output = synthetic 3D volume (64×64×64)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79" name="Group 25">
            <a:extLst>
              <a:ext uri="{FF2B5EF4-FFF2-40B4-BE49-F238E27FC236}">
                <a16:creationId xmlns:a16="http://schemas.microsoft.com/office/drawing/2014/main" id="{F7BF171E-F115-CBFE-8C2A-2D0FB6D8EDC3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F072879E-8813-5E8D-FF6F-7CCEEEB4B5F0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extBox 27">
            <a:extLst>
              <a:ext uri="{FF2B5EF4-FFF2-40B4-BE49-F238E27FC236}">
                <a16:creationId xmlns:a16="http://schemas.microsoft.com/office/drawing/2014/main" id="{48F6123C-BE1C-3EA3-9325-7B5117846B6A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Model Architecture</a:t>
            </a:r>
          </a:p>
        </p:txBody>
      </p:sp>
      <p:sp>
        <p:nvSpPr>
          <p:cNvPr id="82" name="TextBox 28">
            <a:extLst>
              <a:ext uri="{FF2B5EF4-FFF2-40B4-BE49-F238E27FC236}">
                <a16:creationId xmlns:a16="http://schemas.microsoft.com/office/drawing/2014/main" id="{39D1EED8-6289-5FD5-7156-12D0848A8078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3.2</a:t>
            </a:r>
          </a:p>
        </p:txBody>
      </p:sp>
      <p:sp>
        <p:nvSpPr>
          <p:cNvPr id="83" name="Shape 2">
            <a:extLst>
              <a:ext uri="{FF2B5EF4-FFF2-40B4-BE49-F238E27FC236}">
                <a16:creationId xmlns:a16="http://schemas.microsoft.com/office/drawing/2014/main" id="{F0988A53-113E-C01C-783C-1C3CE3D659FB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4CB546A8-F9A0-5DCB-571F-5C652486802F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90" name="Group 23">
            <a:extLst>
              <a:ext uri="{FF2B5EF4-FFF2-40B4-BE49-F238E27FC236}">
                <a16:creationId xmlns:a16="http://schemas.microsoft.com/office/drawing/2014/main" id="{E0AA3811-89D0-B1F9-5210-348438DF7267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91" name="Freeform 24">
              <a:extLst>
                <a:ext uri="{FF2B5EF4-FFF2-40B4-BE49-F238E27FC236}">
                  <a16:creationId xmlns:a16="http://schemas.microsoft.com/office/drawing/2014/main" id="{A14D0CC0-BC3E-4593-CC02-D92248D47F8F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2" name="TextBox 25">
            <a:extLst>
              <a:ext uri="{FF2B5EF4-FFF2-40B4-BE49-F238E27FC236}">
                <a16:creationId xmlns:a16="http://schemas.microsoft.com/office/drawing/2014/main" id="{FAAB5058-8673-B7D0-A9A2-3F2455DC913D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93" name="TextBox 26">
            <a:extLst>
              <a:ext uri="{FF2B5EF4-FFF2-40B4-BE49-F238E27FC236}">
                <a16:creationId xmlns:a16="http://schemas.microsoft.com/office/drawing/2014/main" id="{5ECB398E-34D8-0E33-BDB5-55D54BBAC5A8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7BB1-0B57-8DCA-23EE-1CA58ECDC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DFD9E89-0988-18DC-2F51-5D3A49E6229C}"/>
              </a:ext>
            </a:extLst>
          </p:cNvPr>
          <p:cNvSpPr txBox="1"/>
          <p:nvPr/>
        </p:nvSpPr>
        <p:spPr>
          <a:xfrm>
            <a:off x="3737172" y="1137955"/>
            <a:ext cx="16230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10000" b="1" dirty="0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04 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813E584-0AAB-6763-FF0B-618AC94B0D19}"/>
              </a:ext>
            </a:extLst>
          </p:cNvPr>
          <p:cNvGrpSpPr/>
          <p:nvPr/>
        </p:nvGrpSpPr>
        <p:grpSpPr>
          <a:xfrm>
            <a:off x="3348804" y="2571750"/>
            <a:ext cx="2309100" cy="36000"/>
            <a:chOff x="0" y="0"/>
            <a:chExt cx="6157600" cy="9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0C0FBB7-B81E-8110-E5E7-8901E6FEB5FA}"/>
                </a:ext>
              </a:extLst>
            </p:cNvPr>
            <p:cNvSpPr/>
            <p:nvPr/>
          </p:nvSpPr>
          <p:spPr>
            <a:xfrm>
              <a:off x="0" y="0"/>
              <a:ext cx="6157595" cy="96012"/>
            </a:xfrm>
            <a:custGeom>
              <a:avLst/>
              <a:gdLst/>
              <a:ahLst/>
              <a:cxnLst/>
              <a:rect l="l" t="t" r="r" b="b"/>
              <a:pathLst>
                <a:path w="6157595" h="96012">
                  <a:moveTo>
                    <a:pt x="0" y="0"/>
                  </a:moveTo>
                  <a:lnTo>
                    <a:pt x="6157595" y="0"/>
                  </a:lnTo>
                  <a:lnTo>
                    <a:pt x="6157595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B325952D-1511-C35E-FB37-1DADF3CA2998}"/>
              </a:ext>
            </a:extLst>
          </p:cNvPr>
          <p:cNvSpPr txBox="1"/>
          <p:nvPr/>
        </p:nvSpPr>
        <p:spPr>
          <a:xfrm>
            <a:off x="2316667" y="2704594"/>
            <a:ext cx="6682469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Model Evaluation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572DDB11-34D2-0FFE-4A83-239948C2BE21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03230421-3546-2A64-A6F0-5840CAACB827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417448B2-C401-13FA-5EBF-95521BAC623D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13" name="Freeform 5" descr="Viện Trí tuệ nhân tạo | Hanoi">
              <a:extLst>
                <a:ext uri="{FF2B5EF4-FFF2-40B4-BE49-F238E27FC236}">
                  <a16:creationId xmlns:a16="http://schemas.microsoft.com/office/drawing/2014/main" id="{8E5C037E-1011-4E8E-2189-C94B3CEF8BA0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" name="TextBox 22">
            <a:extLst>
              <a:ext uri="{FF2B5EF4-FFF2-40B4-BE49-F238E27FC236}">
                <a16:creationId xmlns:a16="http://schemas.microsoft.com/office/drawing/2014/main" id="{FBEA4E2D-9CC8-18AE-A78B-D2F11C63822E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B998EA26-8E8B-9C01-AC4F-B520C8B22E2D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F0390C7F-89FF-8C8B-43E3-03E7FC1A791D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337E3F9F-5583-B99F-12E9-D89650F3922F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5B38307E-F9FF-0F90-57B7-5A5A67813D2E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13/20</a:t>
            </a:r>
          </a:p>
        </p:txBody>
      </p:sp>
    </p:spTree>
    <p:extLst>
      <p:ext uri="{BB962C8B-B14F-4D97-AF65-F5344CB8AC3E}">
        <p14:creationId xmlns:p14="http://schemas.microsoft.com/office/powerpoint/2010/main" val="3869350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19164" y="702872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66A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SSIM</a:t>
            </a:r>
            <a:endParaRPr lang="en-US" sz="17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42124" y="794312"/>
            <a:ext cx="0" cy="384048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60996" y="7485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Structural Similarity Index — measures how similar the generated image looks compared to the real scan. Combines brightness, contrast, and fine structure. Range 0→1, higher is better.</a:t>
            </a:r>
            <a:endParaRPr lang="en-US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19164" y="1324664"/>
            <a:ext cx="8321040" cy="0"/>
          </a:xfrm>
          <a:prstGeom prst="line">
            <a:avLst/>
          </a:prstGeom>
          <a:noFill/>
          <a:ln w="762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9164" y="1361240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66A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PSNR</a:t>
            </a:r>
            <a:endParaRPr lang="en-US" sz="17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42124" y="1452680"/>
            <a:ext cx="0" cy="384048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60996" y="14069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Peak Signal-to-Noise Ratio — measures pixel-level reconstruction accuracy in decibels. Typical MRI values sit between 30–40 dB. Higher is better.</a:t>
            </a:r>
            <a:endParaRPr lang="en-US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9164" y="1983032"/>
            <a:ext cx="8321040" cy="0"/>
          </a:xfrm>
          <a:prstGeom prst="line">
            <a:avLst/>
          </a:prstGeom>
          <a:noFill/>
          <a:ln w="762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9164" y="2019608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66A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VPS</a:t>
            </a:r>
            <a:endParaRPr lang="en-US" sz="17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42124" y="2111048"/>
            <a:ext cx="0" cy="384048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60996" y="206532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Volume Preservation Score — measures whether the generated brain preserves the same grey-matter volume as the input. VPS = 1.0 means perfect preservation. This is the most important metric for this project.</a:t>
            </a:r>
            <a:endParaRPr lang="en-US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9164" y="2714552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924062"/>
              </p:ext>
            </p:extLst>
          </p:nvPr>
        </p:nvGraphicFramePr>
        <p:xfrm>
          <a:off x="319164" y="2805992"/>
          <a:ext cx="8321040" cy="1152144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 (dB)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 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16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16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16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19164" y="4131872"/>
            <a:ext cx="8321040" cy="347472"/>
          </a:xfrm>
          <a:prstGeom prst="rect">
            <a:avLst/>
          </a:prstGeom>
          <a:solidFill>
            <a:srgbClr val="EEF3FB"/>
          </a:solidFill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10604" y="41318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Both models: </a:t>
            </a:r>
            <a:r>
              <a:rPr lang="en-US" sz="12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SSIM &gt; 0.97  ·  VPS &gt; 0.99 — volume-preserving preprocessing translates directly into volume-stable synthesis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3" name="Group 25">
            <a:extLst>
              <a:ext uri="{FF2B5EF4-FFF2-40B4-BE49-F238E27FC236}">
                <a16:creationId xmlns:a16="http://schemas.microsoft.com/office/drawing/2014/main" id="{185DFE61-FA59-7042-782B-E21D68143D3D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1DCDB82E-8C41-0D94-9802-00DAF6AD2C51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TextBox 27">
            <a:extLst>
              <a:ext uri="{FF2B5EF4-FFF2-40B4-BE49-F238E27FC236}">
                <a16:creationId xmlns:a16="http://schemas.microsoft.com/office/drawing/2014/main" id="{85DE79E8-C854-C9EC-B88B-DE7D0A5C2DE9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Model Evaluation</a:t>
            </a:r>
          </a:p>
        </p:txBody>
      </p:sp>
      <p:sp>
        <p:nvSpPr>
          <p:cNvPr id="26" name="TextBox 28">
            <a:extLst>
              <a:ext uri="{FF2B5EF4-FFF2-40B4-BE49-F238E27FC236}">
                <a16:creationId xmlns:a16="http://schemas.microsoft.com/office/drawing/2014/main" id="{A2E85AC3-FEAD-9A1E-5166-8AD2E5A04E9F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4.1</a:t>
            </a: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39517B4E-B48A-0995-38A6-60EE75763D76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3D869DB7-D20F-DA89-4AB8-25388ABB5F68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772C1BD1-DFAD-0852-09B3-24C9351D532B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4B3C5B79-7CD7-E68F-3556-90F1D677CBE1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8" name="TextBox 25">
            <a:extLst>
              <a:ext uri="{FF2B5EF4-FFF2-40B4-BE49-F238E27FC236}">
                <a16:creationId xmlns:a16="http://schemas.microsoft.com/office/drawing/2014/main" id="{E0D21EF4-D28B-957B-E214-BD58C07146CE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880F423C-5D93-5EAD-0695-846DBF4FAC4D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73AF-1146-B0AC-B6BA-9EF6257B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D645FFF6-8965-56AB-9E36-C0AFF0354ACC}"/>
              </a:ext>
            </a:extLst>
          </p:cNvPr>
          <p:cNvSpPr txBox="1"/>
          <p:nvPr/>
        </p:nvSpPr>
        <p:spPr>
          <a:xfrm>
            <a:off x="3737172" y="1137955"/>
            <a:ext cx="16230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10000" b="1" dirty="0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05 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170DF1CB-9367-F407-D7EF-ED31DAC59683}"/>
              </a:ext>
            </a:extLst>
          </p:cNvPr>
          <p:cNvGrpSpPr/>
          <p:nvPr/>
        </p:nvGrpSpPr>
        <p:grpSpPr>
          <a:xfrm>
            <a:off x="3348804" y="2571750"/>
            <a:ext cx="2309100" cy="36000"/>
            <a:chOff x="0" y="0"/>
            <a:chExt cx="6157600" cy="9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D3577E7-AE11-A0DC-FDFE-46C4A56F4423}"/>
                </a:ext>
              </a:extLst>
            </p:cNvPr>
            <p:cNvSpPr/>
            <p:nvPr/>
          </p:nvSpPr>
          <p:spPr>
            <a:xfrm>
              <a:off x="0" y="0"/>
              <a:ext cx="6157595" cy="96012"/>
            </a:xfrm>
            <a:custGeom>
              <a:avLst/>
              <a:gdLst/>
              <a:ahLst/>
              <a:cxnLst/>
              <a:rect l="l" t="t" r="r" b="b"/>
              <a:pathLst>
                <a:path w="6157595" h="96012">
                  <a:moveTo>
                    <a:pt x="0" y="0"/>
                  </a:moveTo>
                  <a:lnTo>
                    <a:pt x="6157595" y="0"/>
                  </a:lnTo>
                  <a:lnTo>
                    <a:pt x="6157595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7886935-A899-ED56-8C4A-AB50B2DBB4A6}"/>
              </a:ext>
            </a:extLst>
          </p:cNvPr>
          <p:cNvSpPr txBox="1"/>
          <p:nvPr/>
        </p:nvSpPr>
        <p:spPr>
          <a:xfrm>
            <a:off x="1704766" y="2726631"/>
            <a:ext cx="6682469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Latent Space Analysis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BA1DD7BB-7150-6559-D47E-E35ED84CB31F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CB4CF67D-8528-9B75-D867-42B0EB348C11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101B5100-1CD4-329B-F285-422EFC07675D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13" name="Freeform 5" descr="Viện Trí tuệ nhân tạo | Hanoi">
              <a:extLst>
                <a:ext uri="{FF2B5EF4-FFF2-40B4-BE49-F238E27FC236}">
                  <a16:creationId xmlns:a16="http://schemas.microsoft.com/office/drawing/2014/main" id="{CF801AC1-5762-950A-BD56-C2B2C0801319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" name="TextBox 22">
            <a:extLst>
              <a:ext uri="{FF2B5EF4-FFF2-40B4-BE49-F238E27FC236}">
                <a16:creationId xmlns:a16="http://schemas.microsoft.com/office/drawing/2014/main" id="{A6947AAE-C2F1-AB2D-7B2D-042070414FDF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584F01E4-9B3B-BB96-589B-542B2587CC55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F7B37B38-9C93-8F6D-C37E-68C3D69A14D6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6943EA9F-240B-5334-39AA-1E7184EDCB0A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925B1208-EC80-34EE-E3EB-00EBFDAB5777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15/20</a:t>
            </a:r>
          </a:p>
        </p:txBody>
      </p:sp>
    </p:spTree>
    <p:extLst>
      <p:ext uri="{BB962C8B-B14F-4D97-AF65-F5344CB8AC3E}">
        <p14:creationId xmlns:p14="http://schemas.microsoft.com/office/powerpoint/2010/main" val="1978169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01B53-62ED-F65F-C9C2-D5D1502DA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68">
            <a:extLst>
              <a:ext uri="{FF2B5EF4-FFF2-40B4-BE49-F238E27FC236}">
                <a16:creationId xmlns:a16="http://schemas.microsoft.com/office/drawing/2014/main" id="{570BFDF0-5F6D-AAC6-D9B2-8EF693BCD63C}"/>
              </a:ext>
            </a:extLst>
          </p:cNvPr>
          <p:cNvSpPr/>
          <p:nvPr/>
        </p:nvSpPr>
        <p:spPr>
          <a:xfrm>
            <a:off x="318459" y="719659"/>
            <a:ext cx="80588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We manipulate the latent space by conditioning the generator of the 2 models on a target age, the input anatomy is held fixed while only the age signal changes.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7" name="Hình ảnh 36">
            <a:extLst>
              <a:ext uri="{FF2B5EF4-FFF2-40B4-BE49-F238E27FC236}">
                <a16:creationId xmlns:a16="http://schemas.microsoft.com/office/drawing/2014/main" id="{3335A5E6-F267-74B4-DEF0-2D16A80F5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96" y="1332200"/>
            <a:ext cx="4830204" cy="1559528"/>
          </a:xfrm>
          <a:prstGeom prst="rect">
            <a:avLst/>
          </a:prstGeom>
        </p:spPr>
      </p:pic>
      <p:pic>
        <p:nvPicPr>
          <p:cNvPr id="39" name="Hình ảnh 38">
            <a:extLst>
              <a:ext uri="{FF2B5EF4-FFF2-40B4-BE49-F238E27FC236}">
                <a16:creationId xmlns:a16="http://schemas.microsoft.com/office/drawing/2014/main" id="{CCAB60E0-FDA5-A007-0BD2-BDE6C649C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63" y="3317599"/>
            <a:ext cx="4816137" cy="1546188"/>
          </a:xfrm>
          <a:prstGeom prst="rect">
            <a:avLst/>
          </a:prstGeom>
        </p:spPr>
      </p:pic>
      <p:grpSp>
        <p:nvGrpSpPr>
          <p:cNvPr id="41" name="Group 25">
            <a:extLst>
              <a:ext uri="{FF2B5EF4-FFF2-40B4-BE49-F238E27FC236}">
                <a16:creationId xmlns:a16="http://schemas.microsoft.com/office/drawing/2014/main" id="{3B442FB2-5598-3EDD-4924-193E485CC851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E59B5241-7045-B203-F4B9-AA7917559F49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TextBox 27">
            <a:extLst>
              <a:ext uri="{FF2B5EF4-FFF2-40B4-BE49-F238E27FC236}">
                <a16:creationId xmlns:a16="http://schemas.microsoft.com/office/drawing/2014/main" id="{D06A5D7B-02D6-3784-7651-0F74A7F91E26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Latent Manipulation</a:t>
            </a:r>
          </a:p>
        </p:txBody>
      </p:sp>
      <p:sp>
        <p:nvSpPr>
          <p:cNvPr id="44" name="TextBox 28">
            <a:extLst>
              <a:ext uri="{FF2B5EF4-FFF2-40B4-BE49-F238E27FC236}">
                <a16:creationId xmlns:a16="http://schemas.microsoft.com/office/drawing/2014/main" id="{2BD7CEE8-88E6-3C52-E758-B9E29ED07F0B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5.1</a:t>
            </a:r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DEEAC038-07E4-250E-5BD1-3521EA6C4EC8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182AF8C6-5D7C-6380-78FD-F6E9DFAB3486}"/>
              </a:ext>
            </a:extLst>
          </p:cNvPr>
          <p:cNvSpPr/>
          <p:nvPr/>
        </p:nvSpPr>
        <p:spPr>
          <a:xfrm>
            <a:off x="318459" y="1082205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2D model: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 Real scan | Synthetic (age 20) | Difference map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5F000568-E54B-3EB5-0BE3-B08DFF25CC84}"/>
              </a:ext>
            </a:extLst>
          </p:cNvPr>
          <p:cNvSpPr/>
          <p:nvPr/>
        </p:nvSpPr>
        <p:spPr>
          <a:xfrm>
            <a:off x="318459" y="3009291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64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3D model: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 Real scan | Synthetic (age 20) | Difference map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C3FC7CBA-31DB-0E10-8FBE-3D9D6F4A7191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7F2DF658-5521-92E6-9A5B-25FFFFF2B481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8E22B258-9E13-1A9A-92A9-BA9381720010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3B1AC5C7-9C16-AEF5-0F12-11A92A9757E6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F48EE5A2-EB7B-EE69-082D-7097BC86E642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16/20</a:t>
            </a:r>
          </a:p>
        </p:txBody>
      </p:sp>
    </p:spTree>
    <p:extLst>
      <p:ext uri="{BB962C8B-B14F-4D97-AF65-F5344CB8AC3E}">
        <p14:creationId xmlns:p14="http://schemas.microsoft.com/office/powerpoint/2010/main" val="2091631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38552" y="718867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We compute the Pearson correlation between each of the 256 latent dimensions and chronological age across all test subjects. Dimensions with high |r| are the ones the model has learned to associate with ageing.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1" name="Group 25">
            <a:extLst>
              <a:ext uri="{FF2B5EF4-FFF2-40B4-BE49-F238E27FC236}">
                <a16:creationId xmlns:a16="http://schemas.microsoft.com/office/drawing/2014/main" id="{FB0A0DA1-1CB1-5FBD-18C4-AD2C87C22581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12" name="Freeform 26">
              <a:extLst>
                <a:ext uri="{FF2B5EF4-FFF2-40B4-BE49-F238E27FC236}">
                  <a16:creationId xmlns:a16="http://schemas.microsoft.com/office/drawing/2014/main" id="{0D4A4231-B7E7-44FD-761B-2AC34FCAAE0C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TextBox 27">
            <a:extLst>
              <a:ext uri="{FF2B5EF4-FFF2-40B4-BE49-F238E27FC236}">
                <a16:creationId xmlns:a16="http://schemas.microsoft.com/office/drawing/2014/main" id="{BC7C57B2-94E7-4292-22F4-8FE4A6563343}"/>
              </a:ext>
            </a:extLst>
          </p:cNvPr>
          <p:cNvSpPr txBox="1"/>
          <p:nvPr/>
        </p:nvSpPr>
        <p:spPr>
          <a:xfrm>
            <a:off x="812644" y="283464"/>
            <a:ext cx="6882384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Which Latent Dimensions Encode Age</a:t>
            </a:r>
          </a:p>
        </p:txBody>
      </p:sp>
      <p:sp>
        <p:nvSpPr>
          <p:cNvPr id="14" name="TextBox 28">
            <a:extLst>
              <a:ext uri="{FF2B5EF4-FFF2-40B4-BE49-F238E27FC236}">
                <a16:creationId xmlns:a16="http://schemas.microsoft.com/office/drawing/2014/main" id="{1E6BED41-E23A-8324-C94C-243C79B384FD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5.2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D479CEFA-207F-13F4-8631-D99086FDB462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675603C2-8C2A-2A4F-12FB-0E2D41F38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33250"/>
            <a:ext cx="9144000" cy="2846717"/>
          </a:xfrm>
          <a:prstGeom prst="rect">
            <a:avLst/>
          </a:prstGeom>
        </p:spPr>
      </p:pic>
      <p:sp>
        <p:nvSpPr>
          <p:cNvPr id="20" name="TextBox 22">
            <a:extLst>
              <a:ext uri="{FF2B5EF4-FFF2-40B4-BE49-F238E27FC236}">
                <a16:creationId xmlns:a16="http://schemas.microsoft.com/office/drawing/2014/main" id="{2197A39B-84ED-6890-5C5C-A4FC115FDDF4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21" name="Group 23">
            <a:extLst>
              <a:ext uri="{FF2B5EF4-FFF2-40B4-BE49-F238E27FC236}">
                <a16:creationId xmlns:a16="http://schemas.microsoft.com/office/drawing/2014/main" id="{97482CF2-3F31-C785-FDED-1C1A75A97E4C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F2C944BF-4CCB-1F0D-9728-4A892B881613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3" name="TextBox 25">
            <a:extLst>
              <a:ext uri="{FF2B5EF4-FFF2-40B4-BE49-F238E27FC236}">
                <a16:creationId xmlns:a16="http://schemas.microsoft.com/office/drawing/2014/main" id="{A695F8B6-592D-B92F-23D6-96CBFFFF757A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73C50F5A-4F62-A1E9-85CE-D98C1C18A1BB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46596" y="75895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Knowing </a:t>
            </a:r>
            <a:r>
              <a:rPr lang="en-US" sz="1400" i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which dimensions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correlate with age is only half the picture, we also need to know </a:t>
            </a:r>
            <a:r>
              <a:rPr lang="en-US" sz="1400" i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which brain regions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they control.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Method — for each of the top-5 age-correlated dimensions: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746504"/>
            <a:ext cx="292608" cy="29260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1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1248" y="1691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Take a representative subject's latent code z.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221992"/>
            <a:ext cx="292608" cy="29260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2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1248" y="21671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Perturb only that dimension d* by +2σ, leaving all other dimensions unchanged.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2697480"/>
            <a:ext cx="292608" cy="29260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3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1248" y="264261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Decode both the original and perturbed codes to obtain images x̂ and x̂⁺.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3172968"/>
            <a:ext cx="292608" cy="29260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4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" y="311810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Compute the absolute pixel-wise difference Δ = |x̂⁺ − x̂|, smoothed with a Gaussian kernel.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8321040" cy="0"/>
          </a:xfrm>
          <a:prstGeom prst="line">
            <a:avLst/>
          </a:prstGeom>
          <a:noFill/>
          <a:ln w="1016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3D35471-D9EC-54D7-48A6-67A7BC0B3218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DCC2C5A-6026-3701-143A-79D849CA1B04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AA82A7D-C771-D7D5-C21A-B00872AA7719}"/>
              </a:ext>
            </a:extLst>
          </p:cNvPr>
          <p:cNvSpPr txBox="1"/>
          <p:nvPr/>
        </p:nvSpPr>
        <p:spPr>
          <a:xfrm>
            <a:off x="812644" y="283464"/>
            <a:ext cx="6882384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Per-Dimension Activation Maps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9FD6FA-A52E-93AB-9BA6-60F98F3C06F7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5.3</a:t>
            </a: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7A3D7CD5-7A45-BD6B-EDEF-A7418C24420A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0872EF4E-E46C-A238-6445-469E33DC0262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7" name="Group 23">
            <a:extLst>
              <a:ext uri="{FF2B5EF4-FFF2-40B4-BE49-F238E27FC236}">
                <a16:creationId xmlns:a16="http://schemas.microsoft.com/office/drawing/2014/main" id="{9D52A97E-86DA-D335-DE1D-B6B5E111C6B5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45E6EEFA-36C4-03D0-E0E9-0824AF79DE48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39" name="TextBox 25">
            <a:extLst>
              <a:ext uri="{FF2B5EF4-FFF2-40B4-BE49-F238E27FC236}">
                <a16:creationId xmlns:a16="http://schemas.microsoft.com/office/drawing/2014/main" id="{90472ADA-021F-A267-6815-6CD15C62EC78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9D7F0D1E-EE7A-A535-965D-94914414743A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39EFF-0CAF-0C82-AD13-9AE6ABBA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ình ảnh 2">
            <a:extLst>
              <a:ext uri="{FF2B5EF4-FFF2-40B4-BE49-F238E27FC236}">
                <a16:creationId xmlns:a16="http://schemas.microsoft.com/office/drawing/2014/main" id="{4C8537C2-20A2-1848-0075-F83E2342C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43" y="58161"/>
            <a:ext cx="6287153" cy="1632241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797AE919-B144-FC8A-3B54-C46C503DF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542" y="1690401"/>
            <a:ext cx="6287153" cy="1632241"/>
          </a:xfrm>
          <a:prstGeom prst="rect">
            <a:avLst/>
          </a:prstGeom>
        </p:spPr>
      </p:pic>
      <p:sp>
        <p:nvSpPr>
          <p:cNvPr id="38" name="Shape 18">
            <a:extLst>
              <a:ext uri="{FF2B5EF4-FFF2-40B4-BE49-F238E27FC236}">
                <a16:creationId xmlns:a16="http://schemas.microsoft.com/office/drawing/2014/main" id="{1C3B1AD4-6F4B-6525-D72B-965D9BFF1697}"/>
              </a:ext>
            </a:extLst>
          </p:cNvPr>
          <p:cNvSpPr/>
          <p:nvPr/>
        </p:nvSpPr>
        <p:spPr>
          <a:xfrm>
            <a:off x="411480" y="3453098"/>
            <a:ext cx="4069080" cy="1274090"/>
          </a:xfrm>
          <a:prstGeom prst="rect">
            <a:avLst/>
          </a:prstGeom>
          <a:solidFill>
            <a:srgbClr val="EEF3FB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B109EBF4-CED1-9BBE-3EC6-448F19C9E310}"/>
              </a:ext>
            </a:extLst>
          </p:cNvPr>
          <p:cNvSpPr/>
          <p:nvPr/>
        </p:nvSpPr>
        <p:spPr>
          <a:xfrm>
            <a:off x="411480" y="3453098"/>
            <a:ext cx="50292" cy="127409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CCECDE11-418E-035D-510A-74A15681D509}"/>
              </a:ext>
            </a:extLst>
          </p:cNvPr>
          <p:cNvSpPr/>
          <p:nvPr/>
        </p:nvSpPr>
        <p:spPr>
          <a:xfrm>
            <a:off x="548640" y="3572934"/>
            <a:ext cx="3840480" cy="1081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66A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Model validation: 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The activation maps align with real-world brain ageing, parietal cortex thinning and ventricular expansion are well-documented hallmarks of ageing (Fjell 2010, Raz 2005). The GAN learned true biology, not noise.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B5B7BFB9-D336-58BA-DE79-12DEE29F317D}"/>
              </a:ext>
            </a:extLst>
          </p:cNvPr>
          <p:cNvSpPr/>
          <p:nvPr/>
        </p:nvSpPr>
        <p:spPr>
          <a:xfrm>
            <a:off x="4663440" y="3453098"/>
            <a:ext cx="4069080" cy="1274090"/>
          </a:xfrm>
          <a:prstGeom prst="rect">
            <a:avLst/>
          </a:prstGeom>
          <a:solidFill>
            <a:srgbClr val="FFF8E1"/>
          </a:solidFill>
          <a:ln w="12700">
            <a:solidFill>
              <a:srgbClr val="E08214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F9B7B6DF-5C43-6EA8-656B-6CE70886E1D8}"/>
              </a:ext>
            </a:extLst>
          </p:cNvPr>
          <p:cNvSpPr/>
          <p:nvPr/>
        </p:nvSpPr>
        <p:spPr>
          <a:xfrm>
            <a:off x="4663440" y="3453098"/>
            <a:ext cx="50292" cy="1274090"/>
          </a:xfrm>
          <a:prstGeom prst="rect">
            <a:avLst/>
          </a:prstGeom>
          <a:solidFill>
            <a:srgbClr val="E08214"/>
          </a:solidFill>
          <a:ln w="12700">
            <a:solidFill>
              <a:srgbClr val="E08214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733D3CFA-7A9A-A2A1-82C2-CC107F05DE69}"/>
              </a:ext>
            </a:extLst>
          </p:cNvPr>
          <p:cNvSpPr/>
          <p:nvPr/>
        </p:nvSpPr>
        <p:spPr>
          <a:xfrm>
            <a:off x="4800600" y="3453098"/>
            <a:ext cx="3840480" cy="1274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8214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Future direction: 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Instead of processing the entire brain, future models could focus specifically on these identified regions, reducing computation and improving diagnostic precision for AD and MS.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4" name="TextBox 22">
            <a:extLst>
              <a:ext uri="{FF2B5EF4-FFF2-40B4-BE49-F238E27FC236}">
                <a16:creationId xmlns:a16="http://schemas.microsoft.com/office/drawing/2014/main" id="{76398CA5-5C02-29F7-9170-ABFC37467916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5" name="Group 23">
            <a:extLst>
              <a:ext uri="{FF2B5EF4-FFF2-40B4-BE49-F238E27FC236}">
                <a16:creationId xmlns:a16="http://schemas.microsoft.com/office/drawing/2014/main" id="{3886CE75-26D4-94FF-5D86-5E84E1A0C278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6" name="Freeform 24">
              <a:extLst>
                <a:ext uri="{FF2B5EF4-FFF2-40B4-BE49-F238E27FC236}">
                  <a16:creationId xmlns:a16="http://schemas.microsoft.com/office/drawing/2014/main" id="{3F235469-329A-E3AE-D52B-32E20126F848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47" name="TextBox 25">
            <a:extLst>
              <a:ext uri="{FF2B5EF4-FFF2-40B4-BE49-F238E27FC236}">
                <a16:creationId xmlns:a16="http://schemas.microsoft.com/office/drawing/2014/main" id="{0AB54FA1-F29B-2413-93DE-1558CD9730D6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48" name="TextBox 26">
            <a:extLst>
              <a:ext uri="{FF2B5EF4-FFF2-40B4-BE49-F238E27FC236}">
                <a16:creationId xmlns:a16="http://schemas.microsoft.com/office/drawing/2014/main" id="{E7CB444F-1966-7290-36D5-5138EE4F6D24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19/20</a:t>
            </a:r>
          </a:p>
        </p:txBody>
      </p:sp>
    </p:spTree>
    <p:extLst>
      <p:ext uri="{BB962C8B-B14F-4D97-AF65-F5344CB8AC3E}">
        <p14:creationId xmlns:p14="http://schemas.microsoft.com/office/powerpoint/2010/main" val="567707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00508" y="116677"/>
            <a:ext cx="486734" cy="486734"/>
            <a:chOff x="0" y="0"/>
            <a:chExt cx="1297957" cy="12979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4" name="Freeform 4"/>
          <p:cNvSpPr/>
          <p:nvPr/>
        </p:nvSpPr>
        <p:spPr>
          <a:xfrm>
            <a:off x="2681216" y="1028700"/>
            <a:ext cx="3734973" cy="3086100"/>
          </a:xfrm>
          <a:custGeom>
            <a:avLst/>
            <a:gdLst/>
            <a:ahLst/>
            <a:cxnLst/>
            <a:rect l="l" t="t" r="r" b="b"/>
            <a:pathLst>
              <a:path w="7469945" h="6172200">
                <a:moveTo>
                  <a:pt x="0" y="0"/>
                </a:moveTo>
                <a:lnTo>
                  <a:pt x="7469944" y="0"/>
                </a:lnTo>
                <a:lnTo>
                  <a:pt x="7469944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" r="-16"/>
            </a:stretch>
          </a:blipFill>
        </p:spPr>
        <p:txBody>
          <a:bodyPr/>
          <a:lstStyle/>
          <a:p>
            <a:endParaRPr lang="en-US" sz="900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6" name="Freeform 6" descr="Viện Trí tuệ nhân tạo | Hanoi"/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7" name="TextBox 22">
            <a:extLst>
              <a:ext uri="{FF2B5EF4-FFF2-40B4-BE49-F238E27FC236}">
                <a16:creationId xmlns:a16="http://schemas.microsoft.com/office/drawing/2014/main" id="{A8B7D66F-D55E-3B1E-7B54-90FBEAD24C36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8" name="Group 23">
            <a:extLst>
              <a:ext uri="{FF2B5EF4-FFF2-40B4-BE49-F238E27FC236}">
                <a16:creationId xmlns:a16="http://schemas.microsoft.com/office/drawing/2014/main" id="{CE38742C-6BA3-3CDA-0D6F-DFEC6EB084A0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9" name="Freeform 24">
              <a:extLst>
                <a:ext uri="{FF2B5EF4-FFF2-40B4-BE49-F238E27FC236}">
                  <a16:creationId xmlns:a16="http://schemas.microsoft.com/office/drawing/2014/main" id="{B02F88CA-089D-EA68-2F11-4D8D65C06EFB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10" name="TextBox 25">
            <a:extLst>
              <a:ext uri="{FF2B5EF4-FFF2-40B4-BE49-F238E27FC236}">
                <a16:creationId xmlns:a16="http://schemas.microsoft.com/office/drawing/2014/main" id="{E9FABD96-3CC5-89B5-228F-075E411F36FF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EA6BE868-D353-39B7-9CDF-CC21290AC694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2451</TotalTime>
  <Words>1425</Words>
  <Application>Microsoft Office PowerPoint</Application>
  <PresentationFormat>Trình chiếu Trên màn hình (16:9)</PresentationFormat>
  <Paragraphs>278</Paragraphs>
  <Slides>20</Slides>
  <Notes>19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20</vt:i4>
      </vt:variant>
    </vt:vector>
  </HeadingPairs>
  <TitlesOfParts>
    <vt:vector size="28" baseType="lpstr">
      <vt:lpstr>Arial</vt:lpstr>
      <vt:lpstr>Arial Bold</vt:lpstr>
      <vt:lpstr>Arimo Bold</vt:lpstr>
      <vt:lpstr>Calibri</vt:lpstr>
      <vt:lpstr>Cambria Bold</vt:lpstr>
      <vt:lpstr>Cambria Math</vt:lpstr>
      <vt:lpstr>TT Rounds Condensed Bold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minh minh</cp:lastModifiedBy>
  <cp:revision>17</cp:revision>
  <dcterms:created xsi:type="dcterms:W3CDTF">2026-05-07T03:46:10Z</dcterms:created>
  <dcterms:modified xsi:type="dcterms:W3CDTF">2026-06-09T05:44:20Z</dcterms:modified>
</cp:coreProperties>
</file>